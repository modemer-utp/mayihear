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645920"/>
            <a:ext cx="9144000" cy="1097280"/>
          </a:xfrm>
          <a:prstGeom prst="rect">
            <a:avLst/>
          </a:prstGeom>
          <a:noFill/>
        </p:spPr>
        <p:txBody>
          <a:bodyPr wrap="none">
            <a:spAutoFit/>
          </a:bodyPr>
          <a:lstStyle/>
          <a:p/>
          <a:p>
            <a:pPr algn="l"/>
            <a:r>
              <a:rPr sz="5200" b="1">
                <a:solidFill>
                  <a:srgbClr val="FFFFFF"/>
                </a:solidFill>
              </a:rPr>
              <a:t>MayiHear</a:t>
            </a:r>
          </a:p>
        </p:txBody>
      </p:sp>
      <p:sp>
        <p:nvSpPr>
          <p:cNvPr id="4" name="TextBox 3"/>
          <p:cNvSpPr txBox="1"/>
          <p:nvPr/>
        </p:nvSpPr>
        <p:spPr>
          <a:xfrm>
            <a:off x="822960" y="2834640"/>
            <a:ext cx="9144000" cy="731520"/>
          </a:xfrm>
          <a:prstGeom prst="rect">
            <a:avLst/>
          </a:prstGeom>
          <a:noFill/>
        </p:spPr>
        <p:txBody>
          <a:bodyPr wrap="none">
            <a:spAutoFit/>
          </a:bodyPr>
          <a:lstStyle/>
          <a:p/>
          <a:p>
            <a:pPr algn="l"/>
            <a:r>
              <a:rPr sz="2400" b="0">
                <a:solidFill>
                  <a:srgbClr val="7A7F96"/>
                </a:solidFill>
              </a:rPr>
              <a:t>Prueba de Precisión de Transcripción</a:t>
            </a:r>
          </a:p>
        </p:txBody>
      </p:sp>
      <p:sp>
        <p:nvSpPr>
          <p:cNvPr id="5" name="TextBox 4"/>
          <p:cNvSpPr txBox="1"/>
          <p:nvPr/>
        </p:nvSpPr>
        <p:spPr>
          <a:xfrm>
            <a:off x="822960" y="3749039"/>
            <a:ext cx="5486400" cy="457200"/>
          </a:xfrm>
          <a:prstGeom prst="rect">
            <a:avLst/>
          </a:prstGeom>
          <a:noFill/>
        </p:spPr>
        <p:txBody>
          <a:bodyPr wrap="none">
            <a:spAutoFit/>
          </a:bodyPr>
          <a:lstStyle/>
          <a:p/>
          <a:p>
            <a:pPr algn="l"/>
            <a:r>
              <a:rPr sz="1400" b="0">
                <a:solidFill>
                  <a:srgbClr val="7A7F96"/>
                </a:solidFill>
              </a:rPr>
              <a:t>Febrero 2026</a:t>
            </a:r>
          </a:p>
        </p:txBody>
      </p:sp>
      <p:sp>
        <p:nvSpPr>
          <p:cNvPr id="6" name="Rectangle 5"/>
          <p:cNvSpPr/>
          <p:nvPr/>
        </p:nvSpPr>
        <p:spPr>
          <a:xfrm>
            <a:off x="8686800" y="2286000"/>
            <a:ext cx="2743200" cy="182880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0" y="2331720"/>
            <a:ext cx="2743200" cy="1828800"/>
          </a:xfrm>
          <a:prstGeom prst="rect">
            <a:avLst/>
          </a:prstGeom>
          <a:noFill/>
        </p:spPr>
        <p:txBody>
          <a:bodyPr wrap="none">
            <a:spAutoFit/>
          </a:bodyPr>
          <a:lstStyle/>
          <a:p/>
          <a:p>
            <a:pPr algn="ctr"/>
            <a:r>
              <a:rPr sz="1200" b="0">
                <a:solidFill>
                  <a:srgbClr val="7A7F96"/>
                </a:solidFill>
              </a:rPr>
              <a:t>WER</a:t>
            </a:r>
          </a:p>
          <a:p>
            <a:pPr algn="ctr"/>
            <a:r>
              <a:rPr sz="4000" b="1">
                <a:solidFill>
                  <a:srgbClr val="2ECC71"/>
                </a:solidFill>
              </a:rPr>
              <a:t>9.89%</a:t>
            </a:r>
          </a:p>
          <a:p>
            <a:pPr algn="ctr"/>
            <a:r>
              <a:rPr sz="1400" b="1">
                <a:solidFill>
                  <a:srgbClr val="E8EAF0"/>
                </a:solidFill>
              </a:rPr>
              <a:t>Excelente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none">
            <a:spAutoFit/>
          </a:bodyPr>
          <a:lstStyle/>
          <a:p/>
          <a:p>
            <a:pPr algn="l"/>
            <a:r>
              <a:rPr sz="2800" b="1">
                <a:solidFill>
                  <a:srgbClr val="FFFFFF"/>
                </a:solidFill>
              </a:rPr>
              <a:t>Metodología</a:t>
            </a:r>
          </a:p>
        </p:txBody>
      </p:sp>
      <p:sp>
        <p:nvSpPr>
          <p:cNvPr id="4" name="Rectangle 3"/>
          <p:cNvSpPr/>
          <p:nvPr/>
        </p:nvSpPr>
        <p:spPr>
          <a:xfrm>
            <a:off x="457200" y="1234440"/>
            <a:ext cx="11274552" cy="77724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07592"/>
            <a:ext cx="10972800" cy="640080"/>
          </a:xfrm>
          <a:prstGeom prst="rect">
            <a:avLst/>
          </a:prstGeom>
          <a:noFill/>
        </p:spPr>
        <p:txBody>
          <a:bodyPr wrap="none">
            <a:spAutoFit/>
          </a:bodyPr>
          <a:lstStyle/>
          <a:p/>
          <a:p>
            <a:r>
              <a:rPr sz="1300" b="1">
                <a:solidFill>
                  <a:srgbClr val="E63946"/>
                </a:solidFill>
              </a:rPr>
              <a:t>Audio evaluado:  </a:t>
            </a:r>
            <a:r>
              <a:rPr sz="1300">
                <a:solidFill>
                  <a:srgbClr val="E8EAF0"/>
                </a:solidFill>
              </a:rPr>
              <a:t>TED Talk en Español — Luis von Ahn — "Cómo aprender una lengua y contribuir a la sociedad"</a:t>
            </a:r>
          </a:p>
        </p:txBody>
      </p:sp>
      <p:sp>
        <p:nvSpPr>
          <p:cNvPr id="6" name="Rectangle 5"/>
          <p:cNvSpPr/>
          <p:nvPr/>
        </p:nvSpPr>
        <p:spPr>
          <a:xfrm>
            <a:off x="457200" y="2194560"/>
            <a:ext cx="11274552" cy="77724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267712"/>
            <a:ext cx="10972800" cy="640080"/>
          </a:xfrm>
          <a:prstGeom prst="rect">
            <a:avLst/>
          </a:prstGeom>
          <a:noFill/>
        </p:spPr>
        <p:txBody>
          <a:bodyPr wrap="none">
            <a:spAutoFit/>
          </a:bodyPr>
          <a:lstStyle/>
          <a:p/>
          <a:p>
            <a:r>
              <a:rPr sz="1300" b="1">
                <a:solidFill>
                  <a:srgbClr val="E63946"/>
                </a:solidFill>
              </a:rPr>
              <a:t>Duración:  </a:t>
            </a:r>
            <a:r>
              <a:rPr sz="1300">
                <a:solidFill>
                  <a:srgbClr val="E8EAF0"/>
                </a:solidFill>
              </a:rPr>
              <a:t>10 min 42 seg</a:t>
            </a:r>
          </a:p>
        </p:txBody>
      </p:sp>
      <p:sp>
        <p:nvSpPr>
          <p:cNvPr id="8" name="Rectangle 7"/>
          <p:cNvSpPr/>
          <p:nvPr/>
        </p:nvSpPr>
        <p:spPr>
          <a:xfrm>
            <a:off x="457200" y="3154680"/>
            <a:ext cx="11274552" cy="77724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227832"/>
            <a:ext cx="10972800" cy="640080"/>
          </a:xfrm>
          <a:prstGeom prst="rect">
            <a:avLst/>
          </a:prstGeom>
          <a:noFill/>
        </p:spPr>
        <p:txBody>
          <a:bodyPr wrap="none">
            <a:spAutoFit/>
          </a:bodyPr>
          <a:lstStyle/>
          <a:p/>
          <a:p>
            <a:r>
              <a:rPr sz="1300" b="1">
                <a:solidFill>
                  <a:srgbClr val="E63946"/>
                </a:solidFill>
              </a:rPr>
              <a:t>Referencia:  </a:t>
            </a:r>
            <a:r>
              <a:rPr sz="1300">
                <a:solidFill>
                  <a:srgbClr val="E8EAF0"/>
                </a:solidFill>
              </a:rPr>
              <a:t>Subtítulos revisados por humanos (YouTube)</a:t>
            </a:r>
          </a:p>
        </p:txBody>
      </p:sp>
      <p:sp>
        <p:nvSpPr>
          <p:cNvPr id="10" name="Rectangle 9"/>
          <p:cNvSpPr/>
          <p:nvPr/>
        </p:nvSpPr>
        <p:spPr>
          <a:xfrm>
            <a:off x="457200" y="4114800"/>
            <a:ext cx="11274552" cy="77724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4187952"/>
            <a:ext cx="10972800" cy="640080"/>
          </a:xfrm>
          <a:prstGeom prst="rect">
            <a:avLst/>
          </a:prstGeom>
          <a:noFill/>
        </p:spPr>
        <p:txBody>
          <a:bodyPr wrap="none">
            <a:spAutoFit/>
          </a:bodyPr>
          <a:lstStyle/>
          <a:p/>
          <a:p>
            <a:r>
              <a:rPr sz="1300" b="1">
                <a:solidFill>
                  <a:srgbClr val="E63946"/>
                </a:solidFill>
              </a:rPr>
              <a:t>Modelo:  </a:t>
            </a:r>
            <a:r>
              <a:rPr sz="1300">
                <a:solidFill>
                  <a:srgbClr val="E8EAF0"/>
                </a:solidFill>
              </a:rPr>
              <a:t>Gemini 2.5 Pro (audio nativo vía Gemini File API)</a:t>
            </a:r>
          </a:p>
        </p:txBody>
      </p:sp>
      <p:sp>
        <p:nvSpPr>
          <p:cNvPr id="12" name="Rectangle 11"/>
          <p:cNvSpPr/>
          <p:nvPr/>
        </p:nvSpPr>
        <p:spPr>
          <a:xfrm>
            <a:off x="457200" y="5074920"/>
            <a:ext cx="11274552" cy="77724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5148072"/>
            <a:ext cx="10972800" cy="640080"/>
          </a:xfrm>
          <a:prstGeom prst="rect">
            <a:avLst/>
          </a:prstGeom>
          <a:noFill/>
        </p:spPr>
        <p:txBody>
          <a:bodyPr wrap="none">
            <a:spAutoFit/>
          </a:bodyPr>
          <a:lstStyle/>
          <a:p/>
          <a:p>
            <a:r>
              <a:rPr sz="1300" b="1">
                <a:solidFill>
                  <a:srgbClr val="E63946"/>
                </a:solidFill>
              </a:rPr>
              <a:t>Captura de audio:  </a:t>
            </a:r>
            <a:r>
              <a:rPr sz="1300">
                <a:solidFill>
                  <a:srgbClr val="E8EAF0"/>
                </a:solidFill>
              </a:rPr>
              <a:t>Audio del sistema (loopback) con MayiHear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none">
            <a:spAutoFit/>
          </a:bodyPr>
          <a:lstStyle/>
          <a:p/>
          <a:p>
            <a:pPr algn="l"/>
            <a:r>
              <a:rPr sz="2800" b="1">
                <a:solidFill>
                  <a:srgbClr val="FFFFFF"/>
                </a:solidFill>
              </a:rPr>
              <a:t>Resultados Principales</a:t>
            </a:r>
          </a:p>
        </p:txBody>
      </p:sp>
      <p:sp>
        <p:nvSpPr>
          <p:cNvPr id="4" name="Rectangle 3"/>
          <p:cNvSpPr/>
          <p:nvPr/>
        </p:nvSpPr>
        <p:spPr>
          <a:xfrm>
            <a:off x="457200" y="1188720"/>
            <a:ext cx="3474720" cy="228600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98448"/>
            <a:ext cx="3200400" cy="2066543"/>
          </a:xfrm>
          <a:prstGeom prst="rect">
            <a:avLst/>
          </a:prstGeom>
          <a:noFill/>
        </p:spPr>
        <p:txBody>
          <a:bodyPr wrap="square">
            <a:spAutoFit/>
          </a:bodyPr>
          <a:lstStyle/>
          <a:p/>
          <a:p>
            <a:pPr algn="ctr"/>
            <a:r>
              <a:rPr sz="1000" b="0">
                <a:solidFill>
                  <a:srgbClr val="7A7F96"/>
                </a:solidFill>
              </a:rPr>
              <a:t>Word Error Rate (WER)</a:t>
            </a:r>
          </a:p>
          <a:p>
            <a:pPr algn="ctr"/>
            <a:r>
              <a:rPr sz="3200" b="1">
                <a:solidFill>
                  <a:srgbClr val="2ECC71"/>
                </a:solidFill>
              </a:rPr>
              <a:t>9.89%</a:t>
            </a:r>
          </a:p>
          <a:p>
            <a:pPr algn="ctr"/>
            <a:r>
              <a:rPr sz="1100" b="0">
                <a:solidFill>
                  <a:srgbClr val="E8EAF0"/>
                </a:solidFill>
              </a:rPr>
              <a:t>Excelente</a:t>
            </a:r>
          </a:p>
        </p:txBody>
      </p:sp>
      <p:sp>
        <p:nvSpPr>
          <p:cNvPr id="6" name="Rectangle 5"/>
          <p:cNvSpPr/>
          <p:nvPr/>
        </p:nvSpPr>
        <p:spPr>
          <a:xfrm>
            <a:off x="4297680" y="1188720"/>
            <a:ext cx="3474720" cy="228600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34840" y="1298448"/>
            <a:ext cx="3200400" cy="2066543"/>
          </a:xfrm>
          <a:prstGeom prst="rect">
            <a:avLst/>
          </a:prstGeom>
          <a:noFill/>
        </p:spPr>
        <p:txBody>
          <a:bodyPr wrap="square">
            <a:spAutoFit/>
          </a:bodyPr>
          <a:lstStyle/>
          <a:p/>
          <a:p>
            <a:pPr algn="ctr"/>
            <a:r>
              <a:rPr sz="1000" b="0">
                <a:solidFill>
                  <a:srgbClr val="7A7F96"/>
                </a:solidFill>
              </a:rPr>
              <a:t>Character Error Rate (CER)</a:t>
            </a:r>
          </a:p>
          <a:p>
            <a:pPr algn="ctr"/>
            <a:r>
              <a:rPr sz="3200" b="1">
                <a:solidFill>
                  <a:srgbClr val="2ECC71"/>
                </a:solidFill>
              </a:rPr>
              <a:t>6.49%</a:t>
            </a:r>
          </a:p>
          <a:p>
            <a:pPr algn="ctr"/>
            <a:r>
              <a:rPr sz="1100" b="0">
                <a:solidFill>
                  <a:srgbClr val="E8EAF0"/>
                </a:solidFill>
              </a:rPr>
              <a:t>Muy bueno</a:t>
            </a:r>
          </a:p>
        </p:txBody>
      </p:sp>
      <p:sp>
        <p:nvSpPr>
          <p:cNvPr id="8" name="Rectangle 7"/>
          <p:cNvSpPr/>
          <p:nvPr/>
        </p:nvSpPr>
        <p:spPr>
          <a:xfrm>
            <a:off x="8138160" y="1188720"/>
            <a:ext cx="3566160" cy="228600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75320" y="1298448"/>
            <a:ext cx="3291840" cy="2066543"/>
          </a:xfrm>
          <a:prstGeom prst="rect">
            <a:avLst/>
          </a:prstGeom>
          <a:noFill/>
        </p:spPr>
        <p:txBody>
          <a:bodyPr wrap="square">
            <a:spAutoFit/>
          </a:bodyPr>
          <a:lstStyle/>
          <a:p/>
          <a:p>
            <a:pPr algn="ctr"/>
            <a:r>
              <a:rPr sz="1000" b="0">
                <a:solidFill>
                  <a:srgbClr val="7A7F96"/>
                </a:solidFill>
              </a:rPr>
              <a:t>Palabras coincidentes</a:t>
            </a:r>
          </a:p>
          <a:p>
            <a:pPr algn="ctr"/>
            <a:r>
              <a:rPr sz="3200" b="1">
                <a:solidFill>
                  <a:srgbClr val="3A86FF"/>
                </a:solidFill>
              </a:rPr>
              <a:t>483/507</a:t>
            </a:r>
          </a:p>
          <a:p>
            <a:pPr algn="ctr"/>
            <a:r>
              <a:rPr sz="1100" b="0">
                <a:solidFill>
                  <a:srgbClr val="E8EAF0"/>
                </a:solidFill>
              </a:rPr>
              <a:t>palabras únicas</a:t>
            </a:r>
          </a:p>
        </p:txBody>
      </p:sp>
      <p:sp>
        <p:nvSpPr>
          <p:cNvPr id="10" name="Rectangle 9"/>
          <p:cNvSpPr/>
          <p:nvPr/>
        </p:nvSpPr>
        <p:spPr>
          <a:xfrm>
            <a:off x="457200" y="3749039"/>
            <a:ext cx="3474720" cy="201168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3858768"/>
            <a:ext cx="3200400" cy="1792224"/>
          </a:xfrm>
          <a:prstGeom prst="rect">
            <a:avLst/>
          </a:prstGeom>
          <a:noFill/>
        </p:spPr>
        <p:txBody>
          <a:bodyPr wrap="square">
            <a:spAutoFit/>
          </a:bodyPr>
          <a:lstStyle/>
          <a:p/>
          <a:p>
            <a:pPr algn="ctr"/>
            <a:r>
              <a:rPr sz="1000" b="0">
                <a:solidFill>
                  <a:srgbClr val="7A7F96"/>
                </a:solidFill>
              </a:rPr>
              <a:t>Palabras en referencia</a:t>
            </a:r>
          </a:p>
          <a:p>
            <a:pPr algn="ctr"/>
            <a:r>
              <a:rPr sz="3200" b="1">
                <a:solidFill>
                  <a:srgbClr val="E8EAF0"/>
                </a:solidFill>
              </a:rPr>
              <a:t>1820</a:t>
            </a:r>
          </a:p>
          <a:p>
            <a:pPr algn="ctr"/>
            <a:r>
              <a:rPr sz="1100" b="0">
                <a:solidFill>
                  <a:srgbClr val="E8EAF0"/>
                </a:solidFill>
              </a:rPr>
              <a:t>subtítulos TED</a:t>
            </a:r>
          </a:p>
        </p:txBody>
      </p:sp>
      <p:sp>
        <p:nvSpPr>
          <p:cNvPr id="12" name="Rectangle 11"/>
          <p:cNvSpPr/>
          <p:nvPr/>
        </p:nvSpPr>
        <p:spPr>
          <a:xfrm>
            <a:off x="4297680" y="3749039"/>
            <a:ext cx="3474720" cy="201168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4840" y="3858768"/>
            <a:ext cx="3200400" cy="1792224"/>
          </a:xfrm>
          <a:prstGeom prst="rect">
            <a:avLst/>
          </a:prstGeom>
          <a:noFill/>
        </p:spPr>
        <p:txBody>
          <a:bodyPr wrap="square">
            <a:spAutoFit/>
          </a:bodyPr>
          <a:lstStyle/>
          <a:p/>
          <a:p>
            <a:pPr algn="ctr"/>
            <a:r>
              <a:rPr sz="1000" b="0">
                <a:solidFill>
                  <a:srgbClr val="7A7F96"/>
                </a:solidFill>
              </a:rPr>
              <a:t>Palabras en MayiHear</a:t>
            </a:r>
          </a:p>
          <a:p>
            <a:pPr algn="ctr"/>
            <a:r>
              <a:rPr sz="3200" b="1">
                <a:solidFill>
                  <a:srgbClr val="E8EAF0"/>
                </a:solidFill>
              </a:rPr>
              <a:t>1906</a:t>
            </a:r>
          </a:p>
          <a:p>
            <a:pPr algn="ctr"/>
            <a:r>
              <a:rPr sz="1100" b="0">
                <a:solidFill>
                  <a:srgbClr val="E8EAF0"/>
                </a:solidFill>
              </a:rPr>
              <a:t>+86 (etiquetas Speaker)</a:t>
            </a:r>
          </a:p>
        </p:txBody>
      </p:sp>
      <p:sp>
        <p:nvSpPr>
          <p:cNvPr id="14" name="Rectangle 13"/>
          <p:cNvSpPr/>
          <p:nvPr/>
        </p:nvSpPr>
        <p:spPr>
          <a:xfrm>
            <a:off x="8138160" y="3749039"/>
            <a:ext cx="3566160" cy="201168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3858768"/>
            <a:ext cx="3291840" cy="1792224"/>
          </a:xfrm>
          <a:prstGeom prst="rect">
            <a:avLst/>
          </a:prstGeom>
          <a:noFill/>
        </p:spPr>
        <p:txBody>
          <a:bodyPr wrap="square">
            <a:spAutoFit/>
          </a:bodyPr>
          <a:lstStyle/>
          <a:p/>
          <a:p>
            <a:pPr algn="ctr"/>
            <a:r>
              <a:rPr sz="1000" b="0">
                <a:solidFill>
                  <a:srgbClr val="7A7F96"/>
                </a:solidFill>
              </a:rPr>
              <a:t>Modelo de transcripción</a:t>
            </a:r>
          </a:p>
          <a:p>
            <a:pPr algn="ctr"/>
            <a:r>
              <a:rPr sz="3200" b="1">
                <a:solidFill>
                  <a:srgbClr val="3A86FF"/>
                </a:solidFill>
              </a:rPr>
              <a:t>Gemini</a:t>
            </a:r>
          </a:p>
          <a:p>
            <a:pPr algn="ctr"/>
            <a:r>
              <a:rPr sz="1100" b="0">
                <a:solidFill>
                  <a:srgbClr val="E8EAF0"/>
                </a:solidFill>
              </a:rPr>
              <a:t>2.5 Pro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none">
            <a:spAutoFit/>
          </a:bodyPr>
          <a:lstStyle/>
          <a:p/>
          <a:p>
            <a:pPr algn="l"/>
            <a:r>
              <a:rPr sz="2800" b="1">
                <a:solidFill>
                  <a:srgbClr val="FFFFFF"/>
                </a:solidFill>
              </a:rPr>
              <a:t>¿Qué significa un WER de 9.89%?</a:t>
            </a:r>
          </a:p>
        </p:txBody>
      </p:sp>
      <p:sp>
        <p:nvSpPr>
          <p:cNvPr id="4" name="Rectangle 3"/>
          <p:cNvSpPr/>
          <p:nvPr/>
        </p:nvSpPr>
        <p:spPr>
          <a:xfrm>
            <a:off x="457200" y="3474720"/>
            <a:ext cx="2560320" cy="10972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4663440"/>
            <a:ext cx="2560320" cy="457200"/>
          </a:xfrm>
          <a:prstGeom prst="rect">
            <a:avLst/>
          </a:prstGeom>
          <a:noFill/>
        </p:spPr>
        <p:txBody>
          <a:bodyPr wrap="none">
            <a:spAutoFit/>
          </a:bodyPr>
          <a:lstStyle/>
          <a:p/>
          <a:p>
            <a:pPr algn="ctr"/>
            <a:r>
              <a:rPr sz="1300" b="1">
                <a:solidFill>
                  <a:srgbClr val="E8EAF0"/>
                </a:solidFill>
              </a:rPr>
              <a:t>&lt; 10%</a:t>
            </a:r>
          </a:p>
        </p:txBody>
      </p:sp>
      <p:sp>
        <p:nvSpPr>
          <p:cNvPr id="6" name="TextBox 5"/>
          <p:cNvSpPr txBox="1"/>
          <p:nvPr/>
        </p:nvSpPr>
        <p:spPr>
          <a:xfrm>
            <a:off x="457200" y="5074920"/>
            <a:ext cx="2560320" cy="365760"/>
          </a:xfrm>
          <a:prstGeom prst="rect">
            <a:avLst/>
          </a:prstGeom>
          <a:noFill/>
        </p:spPr>
        <p:txBody>
          <a:bodyPr wrap="none">
            <a:spAutoFit/>
          </a:bodyPr>
          <a:lstStyle/>
          <a:p/>
          <a:p>
            <a:pPr algn="ctr"/>
            <a:r>
              <a:rPr sz="1200" b="0">
                <a:solidFill>
                  <a:srgbClr val="7A7F96"/>
                </a:solidFill>
              </a:rPr>
              <a:t>Excelente</a:t>
            </a:r>
          </a:p>
        </p:txBody>
      </p:sp>
      <p:sp>
        <p:nvSpPr>
          <p:cNvPr id="7" name="TextBox 6"/>
          <p:cNvSpPr txBox="1"/>
          <p:nvPr/>
        </p:nvSpPr>
        <p:spPr>
          <a:xfrm>
            <a:off x="457200" y="2971800"/>
            <a:ext cx="2560320" cy="411480"/>
          </a:xfrm>
          <a:prstGeom prst="rect">
            <a:avLst/>
          </a:prstGeom>
          <a:noFill/>
        </p:spPr>
        <p:txBody>
          <a:bodyPr wrap="none">
            <a:spAutoFit/>
          </a:bodyPr>
          <a:lstStyle/>
          <a:p/>
          <a:p>
            <a:pPr algn="ctr"/>
            <a:r>
              <a:rPr sz="1300" b="1">
                <a:solidFill>
                  <a:srgbClr val="2ECC71"/>
                </a:solidFill>
              </a:rPr>
              <a:t>▼ MayiHear: 9.89%</a:t>
            </a:r>
          </a:p>
        </p:txBody>
      </p:sp>
      <p:sp>
        <p:nvSpPr>
          <p:cNvPr id="8" name="Rectangle 7"/>
          <p:cNvSpPr/>
          <p:nvPr/>
        </p:nvSpPr>
        <p:spPr>
          <a:xfrm>
            <a:off x="3291840" y="3840480"/>
            <a:ext cx="2560320" cy="731520"/>
          </a:xfrm>
          <a:prstGeom prst="rect">
            <a:avLst/>
          </a:prstGeom>
          <a:solidFill>
            <a:srgbClr val="F7B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91840" y="4663440"/>
            <a:ext cx="2560320" cy="457200"/>
          </a:xfrm>
          <a:prstGeom prst="rect">
            <a:avLst/>
          </a:prstGeom>
          <a:noFill/>
        </p:spPr>
        <p:txBody>
          <a:bodyPr wrap="none">
            <a:spAutoFit/>
          </a:bodyPr>
          <a:lstStyle/>
          <a:p/>
          <a:p>
            <a:pPr algn="ctr"/>
            <a:r>
              <a:rPr sz="1300" b="0">
                <a:solidFill>
                  <a:srgbClr val="E8EAF0"/>
                </a:solidFill>
              </a:rPr>
              <a:t>10–20%</a:t>
            </a:r>
          </a:p>
        </p:txBody>
      </p:sp>
      <p:sp>
        <p:nvSpPr>
          <p:cNvPr id="10" name="TextBox 9"/>
          <p:cNvSpPr txBox="1"/>
          <p:nvPr/>
        </p:nvSpPr>
        <p:spPr>
          <a:xfrm>
            <a:off x="3291840" y="5074920"/>
            <a:ext cx="2560320" cy="365760"/>
          </a:xfrm>
          <a:prstGeom prst="rect">
            <a:avLst/>
          </a:prstGeom>
          <a:noFill/>
        </p:spPr>
        <p:txBody>
          <a:bodyPr wrap="none">
            <a:spAutoFit/>
          </a:bodyPr>
          <a:lstStyle/>
          <a:p/>
          <a:p>
            <a:pPr algn="ctr"/>
            <a:r>
              <a:rPr sz="1200" b="0">
                <a:solidFill>
                  <a:srgbClr val="7A7F96"/>
                </a:solidFill>
              </a:rPr>
              <a:t>Bueno</a:t>
            </a:r>
          </a:p>
        </p:txBody>
      </p:sp>
      <p:sp>
        <p:nvSpPr>
          <p:cNvPr id="11" name="Rectangle 10"/>
          <p:cNvSpPr/>
          <p:nvPr/>
        </p:nvSpPr>
        <p:spPr>
          <a:xfrm>
            <a:off x="6126480" y="3840480"/>
            <a:ext cx="2560320" cy="731520"/>
          </a:xfrm>
          <a:prstGeom prst="rect">
            <a:avLst/>
          </a:prstGeom>
          <a:solidFill>
            <a:srgbClr val="FF8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0" y="4663440"/>
            <a:ext cx="2560320" cy="457200"/>
          </a:xfrm>
          <a:prstGeom prst="rect">
            <a:avLst/>
          </a:prstGeom>
          <a:noFill/>
        </p:spPr>
        <p:txBody>
          <a:bodyPr wrap="none">
            <a:spAutoFit/>
          </a:bodyPr>
          <a:lstStyle/>
          <a:p/>
          <a:p>
            <a:pPr algn="ctr"/>
            <a:r>
              <a:rPr sz="1300" b="0">
                <a:solidFill>
                  <a:srgbClr val="E8EAF0"/>
                </a:solidFill>
              </a:rPr>
              <a:t>20–35%</a:t>
            </a:r>
          </a:p>
        </p:txBody>
      </p:sp>
      <p:sp>
        <p:nvSpPr>
          <p:cNvPr id="13" name="TextBox 12"/>
          <p:cNvSpPr txBox="1"/>
          <p:nvPr/>
        </p:nvSpPr>
        <p:spPr>
          <a:xfrm>
            <a:off x="6126480" y="5074920"/>
            <a:ext cx="2560320" cy="365760"/>
          </a:xfrm>
          <a:prstGeom prst="rect">
            <a:avLst/>
          </a:prstGeom>
          <a:noFill/>
        </p:spPr>
        <p:txBody>
          <a:bodyPr wrap="none">
            <a:spAutoFit/>
          </a:bodyPr>
          <a:lstStyle/>
          <a:p/>
          <a:p>
            <a:pPr algn="ctr"/>
            <a:r>
              <a:rPr sz="1200" b="0">
                <a:solidFill>
                  <a:srgbClr val="7A7F96"/>
                </a:solidFill>
              </a:rPr>
              <a:t>Aceptable</a:t>
            </a:r>
          </a:p>
        </p:txBody>
      </p:sp>
      <p:sp>
        <p:nvSpPr>
          <p:cNvPr id="14" name="Rectangle 13"/>
          <p:cNvSpPr/>
          <p:nvPr/>
        </p:nvSpPr>
        <p:spPr>
          <a:xfrm>
            <a:off x="8961120" y="3840480"/>
            <a:ext cx="2560320" cy="731520"/>
          </a:xfrm>
          <a:prstGeom prst="rect">
            <a:avLst/>
          </a:prstGeom>
          <a:solidFill>
            <a:srgbClr val="E639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0" y="4663440"/>
            <a:ext cx="2560320" cy="457200"/>
          </a:xfrm>
          <a:prstGeom prst="rect">
            <a:avLst/>
          </a:prstGeom>
          <a:noFill/>
        </p:spPr>
        <p:txBody>
          <a:bodyPr wrap="none">
            <a:spAutoFit/>
          </a:bodyPr>
          <a:lstStyle/>
          <a:p/>
          <a:p>
            <a:pPr algn="ctr"/>
            <a:r>
              <a:rPr sz="1300" b="0">
                <a:solidFill>
                  <a:srgbClr val="E8EAF0"/>
                </a:solidFill>
              </a:rPr>
              <a:t>&gt; 35%</a:t>
            </a:r>
          </a:p>
        </p:txBody>
      </p:sp>
      <p:sp>
        <p:nvSpPr>
          <p:cNvPr id="16" name="TextBox 15"/>
          <p:cNvSpPr txBox="1"/>
          <p:nvPr/>
        </p:nvSpPr>
        <p:spPr>
          <a:xfrm>
            <a:off x="8961120" y="5074920"/>
            <a:ext cx="2560320" cy="365760"/>
          </a:xfrm>
          <a:prstGeom prst="rect">
            <a:avLst/>
          </a:prstGeom>
          <a:noFill/>
        </p:spPr>
        <p:txBody>
          <a:bodyPr wrap="none">
            <a:spAutoFit/>
          </a:bodyPr>
          <a:lstStyle/>
          <a:p/>
          <a:p>
            <a:pPr algn="ctr"/>
            <a:r>
              <a:rPr sz="1200" b="0">
                <a:solidFill>
                  <a:srgbClr val="7A7F96"/>
                </a:solidFill>
              </a:rPr>
              <a:t>Necesita mejora</a:t>
            </a:r>
          </a:p>
        </p:txBody>
      </p:sp>
      <p:sp>
        <p:nvSpPr>
          <p:cNvPr id="17" name="TextBox 16"/>
          <p:cNvSpPr txBox="1"/>
          <p:nvPr/>
        </p:nvSpPr>
        <p:spPr>
          <a:xfrm>
            <a:off x="457200" y="5212080"/>
            <a:ext cx="11274552" cy="914400"/>
          </a:xfrm>
          <a:prstGeom prst="rect">
            <a:avLst/>
          </a:prstGeom>
          <a:noFill/>
        </p:spPr>
        <p:txBody>
          <a:bodyPr wrap="none">
            <a:spAutoFit/>
          </a:bodyPr>
          <a:lstStyle/>
          <a:p/>
          <a:p>
            <a:pPr algn="l"/>
            <a:r>
              <a:rPr sz="1200" b="0">
                <a:solidFill>
                  <a:srgbClr val="7A7F96"/>
                </a:solidFill>
              </a:rPr>
              <a:t>Un WER del 9.89% significa que aproximadamente 1 de cada 10 palabras difiere del texto de referencia. Para audio de sistema (loopback digital, sin ruido de sala), este resultado es representativo del caso de uso real en reuniones de Teams/Zoom.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640080"/>
          </a:xfrm>
          <a:prstGeom prst="rect">
            <a:avLst/>
          </a:prstGeom>
          <a:noFill/>
        </p:spPr>
        <p:txBody>
          <a:bodyPr wrap="none">
            <a:spAutoFit/>
          </a:bodyPr>
          <a:lstStyle/>
          <a:p/>
          <a:p>
            <a:pPr algn="l"/>
            <a:r>
              <a:rPr sz="2800" b="1">
                <a:solidFill>
                  <a:srgbClr val="FFFFFF"/>
                </a:solidFill>
              </a:rPr>
              <a:t>Comparación con la Industria — Español</a:t>
            </a:r>
          </a:p>
        </p:txBody>
      </p:sp>
      <p:sp>
        <p:nvSpPr>
          <p:cNvPr id="4" name="Rectangle 3"/>
          <p:cNvSpPr/>
          <p:nvPr/>
        </p:nvSpPr>
        <p:spPr>
          <a:xfrm>
            <a:off x="3657600" y="1371600"/>
            <a:ext cx="3288514" cy="54864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325880"/>
            <a:ext cx="3291840" cy="640080"/>
          </a:xfrm>
          <a:prstGeom prst="rect">
            <a:avLst/>
          </a:prstGeom>
          <a:noFill/>
        </p:spPr>
        <p:txBody>
          <a:bodyPr wrap="none">
            <a:spAutoFit/>
          </a:bodyPr>
          <a:lstStyle/>
          <a:p/>
          <a:p>
            <a:pPr algn="l"/>
            <a:r>
              <a:rPr sz="1100" b="1">
                <a:solidFill>
                  <a:srgbClr val="FFFFFF"/>
                </a:solidFill>
              </a:rPr>
              <a:t>Gemini 2.5 Pro (MayiHear)</a:t>
            </a:r>
          </a:p>
        </p:txBody>
      </p:sp>
      <p:sp>
        <p:nvSpPr>
          <p:cNvPr id="6" name="TextBox 5"/>
          <p:cNvSpPr txBox="1"/>
          <p:nvPr/>
        </p:nvSpPr>
        <p:spPr>
          <a:xfrm>
            <a:off x="7037554" y="1371600"/>
            <a:ext cx="1097280" cy="548640"/>
          </a:xfrm>
          <a:prstGeom prst="rect">
            <a:avLst/>
          </a:prstGeom>
          <a:noFill/>
        </p:spPr>
        <p:txBody>
          <a:bodyPr wrap="none">
            <a:spAutoFit/>
          </a:bodyPr>
          <a:lstStyle/>
          <a:p/>
          <a:p>
            <a:pPr algn="l"/>
            <a:r>
              <a:rPr sz="1300" b="1">
                <a:solidFill>
                  <a:srgbClr val="2ECC71"/>
                </a:solidFill>
              </a:rPr>
              <a:t>9.89%</a:t>
            </a:r>
          </a:p>
        </p:txBody>
      </p:sp>
      <p:sp>
        <p:nvSpPr>
          <p:cNvPr id="7" name="Rectangle 6"/>
          <p:cNvSpPr/>
          <p:nvPr/>
        </p:nvSpPr>
        <p:spPr>
          <a:xfrm>
            <a:off x="3657600" y="2286000"/>
            <a:ext cx="3990109" cy="548640"/>
          </a:xfrm>
          <a:prstGeom prst="rect">
            <a:avLst/>
          </a:prstGeom>
          <a:solidFill>
            <a:srgbClr val="3A8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2240279"/>
            <a:ext cx="3291840" cy="640080"/>
          </a:xfrm>
          <a:prstGeom prst="rect">
            <a:avLst/>
          </a:prstGeom>
          <a:noFill/>
        </p:spPr>
        <p:txBody>
          <a:bodyPr wrap="none">
            <a:spAutoFit/>
          </a:bodyPr>
          <a:lstStyle/>
          <a:p/>
          <a:p>
            <a:pPr algn="l"/>
            <a:r>
              <a:rPr sz="1100" b="0">
                <a:solidFill>
                  <a:srgbClr val="E8EAF0"/>
                </a:solidFill>
              </a:rPr>
              <a:t>Google Speech-to-Text</a:t>
            </a:r>
          </a:p>
        </p:txBody>
      </p:sp>
      <p:sp>
        <p:nvSpPr>
          <p:cNvPr id="9" name="TextBox 8"/>
          <p:cNvSpPr txBox="1"/>
          <p:nvPr/>
        </p:nvSpPr>
        <p:spPr>
          <a:xfrm>
            <a:off x="7739149" y="2286000"/>
            <a:ext cx="1097280" cy="548640"/>
          </a:xfrm>
          <a:prstGeom prst="rect">
            <a:avLst/>
          </a:prstGeom>
          <a:noFill/>
        </p:spPr>
        <p:txBody>
          <a:bodyPr wrap="none">
            <a:spAutoFit/>
          </a:bodyPr>
          <a:lstStyle/>
          <a:p/>
          <a:p>
            <a:pPr algn="l"/>
            <a:r>
              <a:rPr sz="1300" b="0">
                <a:solidFill>
                  <a:srgbClr val="3A86FF"/>
                </a:solidFill>
              </a:rPr>
              <a:t>12.0%</a:t>
            </a:r>
          </a:p>
        </p:txBody>
      </p:sp>
      <p:sp>
        <p:nvSpPr>
          <p:cNvPr id="10" name="Rectangle 9"/>
          <p:cNvSpPr/>
          <p:nvPr/>
        </p:nvSpPr>
        <p:spPr>
          <a:xfrm>
            <a:off x="3657600" y="3200400"/>
            <a:ext cx="4655127" cy="548640"/>
          </a:xfrm>
          <a:prstGeom prst="rect">
            <a:avLst/>
          </a:prstGeom>
          <a:solidFill>
            <a:srgbClr val="3A8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3154679"/>
            <a:ext cx="3291840" cy="640080"/>
          </a:xfrm>
          <a:prstGeom prst="rect">
            <a:avLst/>
          </a:prstGeom>
          <a:noFill/>
        </p:spPr>
        <p:txBody>
          <a:bodyPr wrap="none">
            <a:spAutoFit/>
          </a:bodyPr>
          <a:lstStyle/>
          <a:p/>
          <a:p>
            <a:pPr algn="l"/>
            <a:r>
              <a:rPr sz="1100" b="0">
                <a:solidFill>
                  <a:srgbClr val="E8EAF0"/>
                </a:solidFill>
              </a:rPr>
              <a:t>OpenAI Whisper large-v3</a:t>
            </a:r>
          </a:p>
        </p:txBody>
      </p:sp>
      <p:sp>
        <p:nvSpPr>
          <p:cNvPr id="12" name="TextBox 11"/>
          <p:cNvSpPr txBox="1"/>
          <p:nvPr/>
        </p:nvSpPr>
        <p:spPr>
          <a:xfrm>
            <a:off x="8404167" y="3200400"/>
            <a:ext cx="1097280" cy="548640"/>
          </a:xfrm>
          <a:prstGeom prst="rect">
            <a:avLst/>
          </a:prstGeom>
          <a:noFill/>
        </p:spPr>
        <p:txBody>
          <a:bodyPr wrap="none">
            <a:spAutoFit/>
          </a:bodyPr>
          <a:lstStyle/>
          <a:p/>
          <a:p>
            <a:pPr algn="l"/>
            <a:r>
              <a:rPr sz="1300" b="0">
                <a:solidFill>
                  <a:srgbClr val="3A86FF"/>
                </a:solidFill>
              </a:rPr>
              <a:t>14.0%</a:t>
            </a:r>
          </a:p>
        </p:txBody>
      </p:sp>
      <p:sp>
        <p:nvSpPr>
          <p:cNvPr id="13" name="Rectangle 12"/>
          <p:cNvSpPr/>
          <p:nvPr/>
        </p:nvSpPr>
        <p:spPr>
          <a:xfrm>
            <a:off x="3657600" y="4114800"/>
            <a:ext cx="5320145" cy="548640"/>
          </a:xfrm>
          <a:prstGeom prst="rect">
            <a:avLst/>
          </a:prstGeom>
          <a:solidFill>
            <a:srgbClr val="3A8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4069080"/>
            <a:ext cx="3291840" cy="640080"/>
          </a:xfrm>
          <a:prstGeom prst="rect">
            <a:avLst/>
          </a:prstGeom>
          <a:noFill/>
        </p:spPr>
        <p:txBody>
          <a:bodyPr wrap="none">
            <a:spAutoFit/>
          </a:bodyPr>
          <a:lstStyle/>
          <a:p/>
          <a:p>
            <a:pPr algn="l"/>
            <a:r>
              <a:rPr sz="1100" b="0">
                <a:solidFill>
                  <a:srgbClr val="E8EAF0"/>
                </a:solidFill>
              </a:rPr>
              <a:t>Azure Speech (es-ES)</a:t>
            </a:r>
          </a:p>
        </p:txBody>
      </p:sp>
      <p:sp>
        <p:nvSpPr>
          <p:cNvPr id="15" name="TextBox 14"/>
          <p:cNvSpPr txBox="1"/>
          <p:nvPr/>
        </p:nvSpPr>
        <p:spPr>
          <a:xfrm>
            <a:off x="9069185" y="4114800"/>
            <a:ext cx="1097280" cy="548640"/>
          </a:xfrm>
          <a:prstGeom prst="rect">
            <a:avLst/>
          </a:prstGeom>
          <a:noFill/>
        </p:spPr>
        <p:txBody>
          <a:bodyPr wrap="none">
            <a:spAutoFit/>
          </a:bodyPr>
          <a:lstStyle/>
          <a:p/>
          <a:p>
            <a:pPr algn="l"/>
            <a:r>
              <a:rPr sz="1300" b="0">
                <a:solidFill>
                  <a:srgbClr val="3A86FF"/>
                </a:solidFill>
              </a:rPr>
              <a:t>16.0%</a:t>
            </a:r>
          </a:p>
        </p:txBody>
      </p:sp>
      <p:sp>
        <p:nvSpPr>
          <p:cNvPr id="16" name="Rectangle 15"/>
          <p:cNvSpPr/>
          <p:nvPr/>
        </p:nvSpPr>
        <p:spPr>
          <a:xfrm>
            <a:off x="3657600" y="5029200"/>
            <a:ext cx="5985163" cy="548640"/>
          </a:xfrm>
          <a:prstGeom prst="rect">
            <a:avLst/>
          </a:prstGeom>
          <a:solidFill>
            <a:srgbClr val="3A8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983480"/>
            <a:ext cx="3291840" cy="640080"/>
          </a:xfrm>
          <a:prstGeom prst="rect">
            <a:avLst/>
          </a:prstGeom>
          <a:noFill/>
        </p:spPr>
        <p:txBody>
          <a:bodyPr wrap="none">
            <a:spAutoFit/>
          </a:bodyPr>
          <a:lstStyle/>
          <a:p/>
          <a:p>
            <a:pPr algn="l"/>
            <a:r>
              <a:rPr sz="1100" b="0">
                <a:solidFill>
                  <a:srgbClr val="E8EAF0"/>
                </a:solidFill>
              </a:rPr>
              <a:t>Amazon Transcribe (es)</a:t>
            </a:r>
          </a:p>
        </p:txBody>
      </p:sp>
      <p:sp>
        <p:nvSpPr>
          <p:cNvPr id="18" name="TextBox 17"/>
          <p:cNvSpPr txBox="1"/>
          <p:nvPr/>
        </p:nvSpPr>
        <p:spPr>
          <a:xfrm>
            <a:off x="9734203" y="5029200"/>
            <a:ext cx="1097280" cy="548640"/>
          </a:xfrm>
          <a:prstGeom prst="rect">
            <a:avLst/>
          </a:prstGeom>
          <a:noFill/>
        </p:spPr>
        <p:txBody>
          <a:bodyPr wrap="none">
            <a:spAutoFit/>
          </a:bodyPr>
          <a:lstStyle/>
          <a:p/>
          <a:p>
            <a:pPr algn="l"/>
            <a:r>
              <a:rPr sz="1300" b="0">
                <a:solidFill>
                  <a:srgbClr val="3A86FF"/>
                </a:solidFill>
              </a:rPr>
              <a:t>18.0%</a:t>
            </a:r>
          </a:p>
        </p:txBody>
      </p:sp>
      <p:sp>
        <p:nvSpPr>
          <p:cNvPr id="19" name="TextBox 18"/>
          <p:cNvSpPr txBox="1"/>
          <p:nvPr/>
        </p:nvSpPr>
        <p:spPr>
          <a:xfrm>
            <a:off x="457200" y="6217920"/>
            <a:ext cx="11274552" cy="457200"/>
          </a:xfrm>
          <a:prstGeom prst="rect">
            <a:avLst/>
          </a:prstGeom>
          <a:noFill/>
        </p:spPr>
        <p:txBody>
          <a:bodyPr wrap="none">
            <a:spAutoFit/>
          </a:bodyPr>
          <a:lstStyle/>
          <a:p/>
          <a:p>
            <a:pPr algn="l"/>
            <a:r>
              <a:rPr sz="1000" b="0">
                <a:solidFill>
                  <a:srgbClr val="7A7F96"/>
                </a:solidFill>
              </a:rPr>
              <a:t>* Benchmarks de industria en español (audio limpio). Fuentes: informes públicos de cada proveedor.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515600" cy="822960"/>
          </a:xfrm>
          <a:prstGeom prst="rect">
            <a:avLst/>
          </a:prstGeom>
          <a:noFill/>
        </p:spPr>
        <p:txBody>
          <a:bodyPr wrap="none">
            <a:spAutoFit/>
          </a:bodyPr>
          <a:lstStyle/>
          <a:p/>
          <a:p>
            <a:pPr algn="l"/>
            <a:r>
              <a:rPr sz="3200" b="1">
                <a:solidFill>
                  <a:srgbClr val="FFFFFF"/>
                </a:solidFill>
              </a:rPr>
              <a:t>Conclusiones</a:t>
            </a:r>
          </a:p>
        </p:txBody>
      </p:sp>
      <p:sp>
        <p:nvSpPr>
          <p:cNvPr id="4" name="Rectangle 3"/>
          <p:cNvSpPr/>
          <p:nvPr/>
        </p:nvSpPr>
        <p:spPr>
          <a:xfrm>
            <a:off x="822960" y="1463040"/>
            <a:ext cx="10515600" cy="100584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536192"/>
            <a:ext cx="10149840" cy="914400"/>
          </a:xfrm>
          <a:prstGeom prst="rect">
            <a:avLst/>
          </a:prstGeom>
          <a:noFill/>
        </p:spPr>
        <p:txBody>
          <a:bodyPr wrap="square">
            <a:spAutoFit/>
          </a:bodyPr>
          <a:lstStyle/>
          <a:p/>
          <a:p>
            <a:r>
              <a:rPr sz="1300" b="1">
                <a:solidFill>
                  <a:srgbClr val="2ECC71"/>
                </a:solidFill>
              </a:rPr>
              <a:t>Precisión de nivel Excelente  </a:t>
            </a:r>
            <a:r>
              <a:rPr sz="1200">
                <a:solidFill>
                  <a:srgbClr val="E8EAF0"/>
                </a:solidFill>
              </a:rPr>
              <a:t>WER 9.89% y CER 6.49% en audio de sistema — supera benchmarks públicos de Google, OpenAI y Azure para español.</a:t>
            </a:r>
          </a:p>
        </p:txBody>
      </p:sp>
      <p:sp>
        <p:nvSpPr>
          <p:cNvPr id="6" name="Rectangle 5"/>
          <p:cNvSpPr/>
          <p:nvPr/>
        </p:nvSpPr>
        <p:spPr>
          <a:xfrm>
            <a:off x="822960" y="2697480"/>
            <a:ext cx="10515600" cy="100584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770632"/>
            <a:ext cx="10149840" cy="914400"/>
          </a:xfrm>
          <a:prstGeom prst="rect">
            <a:avLst/>
          </a:prstGeom>
          <a:noFill/>
        </p:spPr>
        <p:txBody>
          <a:bodyPr wrap="square">
            <a:spAutoFit/>
          </a:bodyPr>
          <a:lstStyle/>
          <a:p/>
          <a:p>
            <a:r>
              <a:rPr sz="1300" b="1">
                <a:solidFill>
                  <a:srgbClr val="2ECC71"/>
                </a:solidFill>
              </a:rPr>
              <a:t>Audio limpio = ventaja clave  </a:t>
            </a:r>
            <a:r>
              <a:rPr sz="1200">
                <a:solidFill>
                  <a:srgbClr val="E8EAF0"/>
                </a:solidFill>
              </a:rPr>
              <a:t>La captura por loopback de sistema evita ruido de sala. El audio digital es limpio por naturaleza, optimizando la precisión de Gemini 2.5 Pro.</a:t>
            </a:r>
          </a:p>
        </p:txBody>
      </p:sp>
      <p:sp>
        <p:nvSpPr>
          <p:cNvPr id="8" name="Rectangle 7"/>
          <p:cNvSpPr/>
          <p:nvPr/>
        </p:nvSpPr>
        <p:spPr>
          <a:xfrm>
            <a:off x="822960" y="3931920"/>
            <a:ext cx="10515600" cy="100584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005072"/>
            <a:ext cx="10149840" cy="914400"/>
          </a:xfrm>
          <a:prstGeom prst="rect">
            <a:avLst/>
          </a:prstGeom>
          <a:noFill/>
        </p:spPr>
        <p:txBody>
          <a:bodyPr wrap="square">
            <a:spAutoFit/>
          </a:bodyPr>
          <a:lstStyle/>
          <a:p/>
          <a:p>
            <a:r>
              <a:rPr sz="1300" b="1">
                <a:solidFill>
                  <a:srgbClr val="2ECC71"/>
                </a:solidFill>
              </a:rPr>
              <a:t>Listo para reuniones corporativas  </a:t>
            </a:r>
            <a:r>
              <a:rPr sz="1200">
                <a:solidFill>
                  <a:srgbClr val="E8EAF0"/>
                </a:solidFill>
              </a:rPr>
              <a:t>10:42 min de charla TED procesados correctamente. La arquitectura escala a reuniones de 60+ min sin cambios.</a:t>
            </a:r>
          </a:p>
        </p:txBody>
      </p:sp>
      <p:sp>
        <p:nvSpPr>
          <p:cNvPr id="10" name="Rectangle 9"/>
          <p:cNvSpPr/>
          <p:nvPr/>
        </p:nvSpPr>
        <p:spPr>
          <a:xfrm>
            <a:off x="822960" y="5166360"/>
            <a:ext cx="10515600" cy="1005840"/>
          </a:xfrm>
          <a:prstGeom prst="rect">
            <a:avLst/>
          </a:prstGeom>
          <a:solidFill>
            <a:srgbClr val="1A1D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239512"/>
            <a:ext cx="10149840" cy="914400"/>
          </a:xfrm>
          <a:prstGeom prst="rect">
            <a:avLst/>
          </a:prstGeom>
          <a:noFill/>
        </p:spPr>
        <p:txBody>
          <a:bodyPr wrap="square">
            <a:spAutoFit/>
          </a:bodyPr>
          <a:lstStyle/>
          <a:p/>
          <a:p>
            <a:r>
              <a:rPr sz="1300" b="1">
                <a:solidFill>
                  <a:srgbClr val="2ECC71"/>
                </a:solidFill>
              </a:rPr>
              <a:t>Próximo paso  </a:t>
            </a:r>
            <a:r>
              <a:rPr sz="1200">
                <a:solidFill>
                  <a:srgbClr val="E8EAF0"/>
                </a:solidFill>
              </a:rPr>
              <a:t>Probar con audio real de Teams/Zoom (UTP) para validar WER en condiciones de producción.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